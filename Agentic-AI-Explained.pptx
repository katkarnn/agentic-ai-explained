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463040"/>
            <a:ext cx="4754880" cy="475488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6492240"/>
            <a:ext cx="4206240" cy="420624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1325880" cy="132588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628" y="1135228"/>
            <a:ext cx="609905" cy="6099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AI  ·  EXPLAINED LIKE YOU'RE NEW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2920" y="2788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Agentic AI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Works</a:t>
            </a:r>
            <a:endParaRPr lang="en-US" sz="5000" dirty="0"/>
          </a:p>
        </p:txBody>
      </p:sp>
      <p:sp>
        <p:nvSpPr>
          <p:cNvPr id="8" name="Shape 5"/>
          <p:cNvSpPr/>
          <p:nvPr/>
        </p:nvSpPr>
        <p:spPr>
          <a:xfrm>
            <a:off x="548640" y="4800600"/>
            <a:ext cx="6126480" cy="1783080"/>
          </a:xfrm>
          <a:prstGeom prst="roundRect">
            <a:avLst>
              <a:gd name="adj" fmla="val 4615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8096" y="49423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49423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1" name="Shape 8"/>
          <p:cNvSpPr/>
          <p:nvPr/>
        </p:nvSpPr>
        <p:spPr>
          <a:xfrm>
            <a:off x="1243584" y="49423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12" name="Text 9"/>
          <p:cNvSpPr/>
          <p:nvPr/>
        </p:nvSpPr>
        <p:spPr>
          <a:xfrm>
            <a:off x="1691640" y="48006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intro.sh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5221224"/>
            <a:ext cx="612648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5340096"/>
            <a:ext cx="557784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ask-ai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"teach me agentic AI, from zero"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no buzzwords. real examples. one step at a time.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if you can read code, you can get this.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6928" y="8001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 </a:t>
            </a:r>
            <a:pPr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36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WALK AWAY WITH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last slide, you can explain all of this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math. No PhD. Just clear ideas, pictures, and tiny code examples — built up one piece at a time.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913632" cy="1325880"/>
          </a:xfrm>
          <a:prstGeom prst="roundRect">
            <a:avLst>
              <a:gd name="adj" fmla="val 8276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811780"/>
            <a:ext cx="731520" cy="731520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3009290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715768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LLM really is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691640" y="3172968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one thing it actually does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81728" y="2514600"/>
            <a:ext cx="3913632" cy="1325880"/>
          </a:xfrm>
          <a:prstGeom prst="roundRect">
            <a:avLst>
              <a:gd name="adj" fmla="val 8276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811780"/>
            <a:ext cx="731520" cy="731520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270" y="3009290"/>
            <a:ext cx="336499" cy="3364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24728" y="2715768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agents run in a loop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824728" y="3172968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answering in one shot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005072"/>
            <a:ext cx="3913632" cy="1325880"/>
          </a:xfrm>
          <a:prstGeom prst="roundRect">
            <a:avLst>
              <a:gd name="adj" fmla="val 8276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302252"/>
            <a:ext cx="731520" cy="731520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" y="4499762"/>
            <a:ext cx="336499" cy="3364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206240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memory &amp; guardrails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691640" y="4663440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of a real system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681728" y="4005072"/>
            <a:ext cx="3913632" cy="1325880"/>
          </a:xfrm>
          <a:prstGeom prst="roundRect">
            <a:avLst>
              <a:gd name="adj" fmla="val 8276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4302252"/>
            <a:ext cx="731520" cy="731520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270" y="4499762"/>
            <a:ext cx="336499" cy="33649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24728" y="4206240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 Agent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5824728" y="4663440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that ends the confusion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5495544"/>
            <a:ext cx="3913632" cy="1325880"/>
          </a:xfrm>
          <a:prstGeom prst="roundRect">
            <a:avLst>
              <a:gd name="adj" fmla="val 8276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04672" y="5792724"/>
            <a:ext cx="731520" cy="731520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82" y="5990234"/>
            <a:ext cx="336499" cy="33649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91640" y="5696712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patterns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1691640" y="6153912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spot in every product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4681728" y="5495544"/>
            <a:ext cx="3913632" cy="1325880"/>
          </a:xfrm>
          <a:prstGeom prst="roundRect">
            <a:avLst>
              <a:gd name="adj" fmla="val 8276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937760" y="5792724"/>
            <a:ext cx="731520" cy="731520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5270" y="5990234"/>
            <a:ext cx="336499" cy="33649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824728" y="5696712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build an agent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5824728" y="6153912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NOT to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548640" y="790956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this post — it doubles as a cheat-sheet you can come back to.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36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10,000-FOOT 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idea in one picture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 is just zooming into the middle box.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977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
</a:t>
            </a:r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or trigger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80360" y="301752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082A30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3794760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379476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4453128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445312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5111496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5111496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80360" y="5760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D8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 loops until done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39776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3977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977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
</a:t>
            </a:r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6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 actions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23160" y="4572000"/>
            <a:ext cx="411480" cy="0"/>
          </a:xfrm>
          <a:prstGeom prst="line">
            <a:avLst/>
          </a:prstGeom>
          <a:noFill/>
          <a:ln w="38100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4572000"/>
            <a:ext cx="411480" cy="0"/>
          </a:xfrm>
          <a:prstGeom prst="line">
            <a:avLst/>
          </a:prstGeom>
          <a:noFill/>
          <a:ln w="38100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880360" y="681228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80360" y="6812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681228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6812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80360" y="6812280"/>
            <a:ext cx="1600200" cy="68580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6812280"/>
            <a:ext cx="1600200" cy="68580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75888" y="6766560"/>
            <a:ext cx="347472" cy="-594360"/>
          </a:xfrm>
          <a:prstGeom prst="line">
            <a:avLst/>
          </a:prstGeom>
          <a:noFill/>
          <a:ln w="28575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68112" y="6766560"/>
            <a:ext cx="-347472" cy="-594360"/>
          </a:xfrm>
          <a:prstGeom prst="line">
            <a:avLst/>
          </a:prstGeom>
          <a:noFill/>
          <a:ln w="28575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48640" y="800100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goal goes in. The agent thinks, uses tools, checks the result, repeats — then the answer comes out.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36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554480"/>
            <a:ext cx="4572000" cy="457200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6583680"/>
            <a:ext cx="4023360" cy="402336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331720"/>
            <a:ext cx="1280160" cy="128016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677363"/>
            <a:ext cx="588874" cy="5888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0352" y="416052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Brain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5943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LLM is — and what it absolutely cannot do on its own.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36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BRAIN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LLM, really?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friend who has read the entire internet — but can only talk. That's a Large Language Model.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046720" cy="1371600"/>
          </a:xfrm>
          <a:prstGeom prst="roundRect">
            <a:avLst>
              <a:gd name="adj" fmla="val 8000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063240"/>
            <a:ext cx="731520" cy="731520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3260750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ONE thing: </a:t>
            </a:r>
            <a:pPr indent="0" marL="0">
              <a:buNone/>
            </a:pPr>
            <a:r>
              <a:rPr lang="en-US" sz="180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next word</a:t>
            </a:r>
            <a:pPr indent="0" marL="0">
              <a:buNone/>
            </a:pPr>
            <a:r>
              <a:rPr lang="en-US" sz="18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over and over, really well.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7452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trick. No magic. It's a very, very good autocomplete.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8046720" cy="2834640"/>
          </a:xfrm>
          <a:prstGeom prst="roundRect">
            <a:avLst>
              <a:gd name="adj" fmla="val 2903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8096" y="457657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2" name="Shape 9"/>
          <p:cNvSpPr/>
          <p:nvPr/>
        </p:nvSpPr>
        <p:spPr>
          <a:xfrm>
            <a:off x="1005840" y="457657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3" name="Shape 10"/>
          <p:cNvSpPr/>
          <p:nvPr/>
        </p:nvSpPr>
        <p:spPr>
          <a:xfrm>
            <a:off x="1243584" y="457657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14" name="Text 11"/>
          <p:cNvSpPr/>
          <p:nvPr/>
        </p:nvSpPr>
        <p:spPr>
          <a:xfrm>
            <a:off x="1691640" y="443484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llm.txt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485546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4974336"/>
            <a:ext cx="749808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 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capital of Japan is"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asks itself, again and again: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what word most likely comes next?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"Tokyo"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(then ".", then stop)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"Tokyo."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745236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word, add it, predict the next. Do that fast enough and it looks like thinking.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36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45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its own, the brain is stuck in a room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Brilliant, but locked in a box: no phone, no internet, no notepad. By itself an LLM can only do this: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8046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022092"/>
            <a:ext cx="768096" cy="768096"/>
          </a:xfrm>
          <a:prstGeom prst="ellipse">
            <a:avLst/>
          </a:prstGeom>
          <a:solidFill>
            <a:srgbClr val="E8893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066" y="3229478"/>
            <a:ext cx="353324" cy="3533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91693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DO anything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20240" y="3355848"/>
            <a:ext cx="6446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produces text. It can't send an email, query a database, or open a webpage.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315968"/>
            <a:ext cx="8046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4640580"/>
            <a:ext cx="768096" cy="768096"/>
          </a:xfrm>
          <a:prstGeom prst="ellipse">
            <a:avLst/>
          </a:prstGeom>
          <a:solidFill>
            <a:srgbClr val="E8893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66" y="4847966"/>
            <a:ext cx="353324" cy="3533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453542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instantly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920240" y="4974336"/>
            <a:ext cx="6446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chat ends, it remembers nothing. Every conversation starts from a blank slate.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5934456"/>
            <a:ext cx="8046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6259068"/>
            <a:ext cx="768096" cy="768096"/>
          </a:xfrm>
          <a:prstGeom prst="ellipse">
            <a:avLst/>
          </a:prstGeom>
          <a:solidFill>
            <a:srgbClr val="E8893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66" y="6466454"/>
            <a:ext cx="353324" cy="3533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615391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confidently wrong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920240" y="6592824"/>
            <a:ext cx="6446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likely words — not verified facts. It will state a wrong answer with a straight face.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786384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B45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how do we turn this talking brain into something that gets real work done?  →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36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brain hands: tools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just a function the model is allowed to call. The model asks; your code runs it and hands back the result.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046720" cy="3977640"/>
          </a:xfrm>
          <a:prstGeom prst="roundRect">
            <a:avLst>
              <a:gd name="adj" fmla="val 2069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8849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8849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8849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74320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tool-call.json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282696"/>
            <a:ext cx="749808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"What’s the weather in Pune?"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LLM can't check weather — so it asks for a tool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→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"tool":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"get_weather"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"args":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"city": "Pune" }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code runs it, returns real data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 →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"tempC": 31, "sky": "clear" }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→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"It’s 31°C and clear in Pune."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99516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brain that can call tools and react to the results = an AGENT. That's the whole leap.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36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554480"/>
            <a:ext cx="4572000" cy="457200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6583680"/>
            <a:ext cx="4023360" cy="402336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331720"/>
            <a:ext cx="1280160" cy="128016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677363"/>
            <a:ext cx="588874" cy="5888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0352" y="416052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5943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trick that powers every agent on the planet.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36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 the jargon — it's one loop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“agentic” system has the same shape: a goal goes in, the model decides → acts → looks, again and again, until done.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4168" y="3419856"/>
            <a:ext cx="786384" cy="786384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492" y="3632180"/>
            <a:ext cx="361737" cy="3617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goal or trigger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32004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78808" y="3419856"/>
            <a:ext cx="786384" cy="786384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132" y="3632180"/>
            <a:ext cx="361737" cy="3617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38328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· act · observe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32004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13448" y="3419856"/>
            <a:ext cx="786384" cy="786384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772" y="3632180"/>
            <a:ext cx="361737" cy="3617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21792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6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actions</a:t>
            </a:r>
            <a:endParaRPr lang="en-US" sz="11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3822192"/>
            <a:ext cx="384048" cy="384048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3822192"/>
            <a:ext cx="384048" cy="38404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48640" y="5257800"/>
            <a:ext cx="8046720" cy="2057400"/>
          </a:xfrm>
          <a:prstGeom prst="roundRect">
            <a:avLst>
              <a:gd name="adj" fmla="val 4000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68096" y="53995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4" name="Shape 17"/>
          <p:cNvSpPr/>
          <p:nvPr/>
        </p:nvSpPr>
        <p:spPr>
          <a:xfrm>
            <a:off x="1005840" y="53995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5" name="Shape 18"/>
          <p:cNvSpPr/>
          <p:nvPr/>
        </p:nvSpPr>
        <p:spPr>
          <a:xfrm>
            <a:off x="1243584" y="53995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26" name="Text 19"/>
          <p:cNvSpPr/>
          <p:nvPr/>
        </p:nvSpPr>
        <p:spPr>
          <a:xfrm>
            <a:off x="1691640" y="525780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loop.py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48640" y="567842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41248" y="5797296"/>
            <a:ext cx="749808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  =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model.reason(state)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think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result=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run_tool(step)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act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+ result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observe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749808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it never answers in one shot. It takes a step, reads what came back, then picks the next move.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36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INTO THE LOOP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→ Act → Observe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ReAct. One turn at a time — here's what each word means.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7498080" cy="1417320"/>
          </a:xfrm>
          <a:prstGeom prst="roundRect">
            <a:avLst>
              <a:gd name="adj" fmla="val 7742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894076"/>
            <a:ext cx="841248" cy="841248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0137" y="3121213"/>
            <a:ext cx="386974" cy="3869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0" y="284378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377440" y="3282696"/>
            <a:ext cx="5715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thinks out loud: “what should I do next to get closer to the goal?”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40050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4279392"/>
            <a:ext cx="7498080" cy="1417320"/>
          </a:xfrm>
          <a:prstGeom prst="roundRect">
            <a:avLst>
              <a:gd name="adj" fmla="val 7742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43000" y="4567428"/>
            <a:ext cx="841248" cy="841248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37" y="4794565"/>
            <a:ext cx="386974" cy="3869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77440" y="451713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377440" y="4956048"/>
            <a:ext cx="5715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picks one tool and calls it — search, query a DB, run code, send a request.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417320" y="567842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822960" y="5952744"/>
            <a:ext cx="7498080" cy="1417320"/>
          </a:xfrm>
          <a:prstGeom prst="roundRect">
            <a:avLst>
              <a:gd name="adj" fmla="val 7742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43000" y="6240780"/>
            <a:ext cx="841248" cy="841248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137" y="6467917"/>
            <a:ext cx="386974" cy="3869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377440" y="619048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377440" y="6629400"/>
            <a:ext cx="5715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result of that action — then feeds it back in and loops.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22960" y="7818120"/>
            <a:ext cx="566928" cy="566928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31" y="7971191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781812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goal is met — each observation shapes the next decision.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RUN — A REAL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“Book a table for 2, Friday 7pm”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loop turn by turn. Notice it stops to ask you before doing something it can't undo.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8046720" cy="4983480"/>
          </a:xfrm>
          <a:prstGeom prst="roundRect">
            <a:avLst>
              <a:gd name="adj" fmla="val 1651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6563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6563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6563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51460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agent.log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054096"/>
            <a:ext cx="7498080" cy="432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a table for 2, Friday 7pm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43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turn 1 ────────────────────────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 a place; recall: home=downtown, hates loud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  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maps_search("dinner, downtown")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options found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43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turn 2 ────────────────────────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the quiet, top-rated one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  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check_availability(Fri 19:00)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7:00 full · 7:30 open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43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turn 3 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ask the human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43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────────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changed + booking is irreversible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  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ask_user("7:30 ok?")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"yes"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643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turn 4 ────────────────────────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  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book_table(Fri 19:30)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#A12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✓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added to calendar · loop exits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36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LOOP AT ALL?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the real world talks 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answers can't adapt. A loop reads reality after every step and corrects course — like a GPS, not a printed map.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886200" cy="393192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383280"/>
            <a:ext cx="777240" cy="777240"/>
          </a:xfrm>
          <a:prstGeom prst="ellipse">
            <a:avLst/>
          </a:prstGeom>
          <a:solidFill>
            <a:srgbClr val="E8893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35" y="359313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2976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45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“Printed directions”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530352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Guesses everything up front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react if a step fails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turn ruins the trip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09160" y="3017520"/>
            <a:ext cx="3886200" cy="393192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3383280"/>
            <a:ext cx="777240" cy="777240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055" y="359313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42976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02920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“Live GPS that reroutes”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029200" y="530352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one step, then looks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result, adjusts the plan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from surprises + errors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8640" y="731520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cost more (more model calls) — but they handle the messy, unpredictable real world.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36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554480"/>
            <a:ext cx="4572000" cy="457200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6583680"/>
            <a:ext cx="4023360" cy="402336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331720"/>
            <a:ext cx="1280160" cy="128016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677363"/>
            <a:ext cx="588874" cy="5888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0352" y="416052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Box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5943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parts of a production system — tools, memory, and the safety gates.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36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ANATOMY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really in the box: 6 layers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5084"/>
            <a:ext cx="621792" cy="621792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24" y="1982968"/>
            <a:ext cx="286024" cy="286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78308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Input &amp; guardrails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27632" y="2130552"/>
            <a:ext cx="6830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validation, PII scrub, prompt-injection checks — before anything runs.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66644"/>
            <a:ext cx="621792" cy="621792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124" y="3034528"/>
            <a:ext cx="286024" cy="286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27632" y="283464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Agentic core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27632" y="3182112"/>
            <a:ext cx="6830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+ the reason–act–observe loop. The decision-maker.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918204"/>
            <a:ext cx="621792" cy="621792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124" y="4086088"/>
            <a:ext cx="286024" cy="286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88620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Tools / actions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27632" y="4233672"/>
            <a:ext cx="6830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DB queries, code, search — how the agent touches the real world.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969764"/>
            <a:ext cx="621792" cy="621792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24" y="5137648"/>
            <a:ext cx="286024" cy="286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27632" y="493776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Memory &amp; state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627632" y="5285232"/>
            <a:ext cx="6830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window, a vector store (RAG), and checkpoints to pause/resume.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85216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6021324"/>
            <a:ext cx="621792" cy="621792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124" y="6189208"/>
            <a:ext cx="286024" cy="286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27632" y="598932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Output gates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627632" y="6336792"/>
            <a:ext cx="6830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(is it correct?) + guardrails (is it safe?) + optional human OK.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48640" y="690372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77240" y="7072884"/>
            <a:ext cx="621792" cy="621792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124" y="7240768"/>
            <a:ext cx="286024" cy="2860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27632" y="704088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Observability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1627632" y="7388352"/>
            <a:ext cx="6830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logging, evals, cost/token tracking, retries — wraps everything.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815644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few slides zoom into the parts people get confused about.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36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 · TOOLS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 is just a function + a label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each tool does in plain English. The model reads that and decides when to call it.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8046720" cy="2788920"/>
          </a:xfrm>
          <a:prstGeom prst="roundRect">
            <a:avLst>
              <a:gd name="adj" fmla="val 2951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83921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83921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83921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69748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tools.py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236976"/>
            <a:ext cx="7498080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(city: str):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"""Get the current weather for a city."""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weather_api.fetch(city)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description is the part the model actually reads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6099048"/>
            <a:ext cx="694944" cy="694944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595" y="6286683"/>
            <a:ext cx="319674" cy="3196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45920" y="5961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tools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645920" y="6364224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things up: search, fetch a page, query a DB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663440" y="57607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6099048"/>
            <a:ext cx="694944" cy="694944"/>
          </a:xfrm>
          <a:prstGeom prst="ellipse">
            <a:avLst/>
          </a:prstGeom>
          <a:solidFill>
            <a:srgbClr val="E8893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395" y="6286683"/>
            <a:ext cx="319674" cy="31967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60720" y="5961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tools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760720" y="6364224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things: send email, book, run code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48640" y="736092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B45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tool descriptions = a smarter agent. Bad ones = it calls the wrong tool.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36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 · MEMORY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“memory”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lump these together and get confused. They're three different things.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24328" cy="5029200"/>
          </a:xfrm>
          <a:prstGeom prst="roundRect">
            <a:avLst>
              <a:gd name="adj" fmla="val 418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03604" y="2743200"/>
            <a:ext cx="914400" cy="914400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9900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840480"/>
            <a:ext cx="2624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425196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sticky note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4754880"/>
            <a:ext cx="2258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we just say?”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5532120"/>
            <a:ext cx="22219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window. This run only — gone when it ends.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64408" y="2331720"/>
            <a:ext cx="2624328" cy="5029200"/>
          </a:xfrm>
          <a:prstGeom prst="roundRect">
            <a:avLst>
              <a:gd name="adj" fmla="val 418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9372" y="2743200"/>
            <a:ext cx="914400" cy="914400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99008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64408" y="3840480"/>
            <a:ext cx="2624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264408" y="425196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filing cabinet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447288" y="4754880"/>
            <a:ext cx="2258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I know?”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65576" y="5532120"/>
            <a:ext cx="22219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store (RAG). Facts that survive across runs.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980176" y="2331720"/>
            <a:ext cx="2624328" cy="5029200"/>
          </a:xfrm>
          <a:prstGeom prst="roundRect">
            <a:avLst>
              <a:gd name="adj" fmla="val 418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835140" y="2743200"/>
            <a:ext cx="914400" cy="91440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028" y="2990088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80176" y="3840480"/>
            <a:ext cx="2624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state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5980176" y="425196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bookmark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163056" y="4754880"/>
            <a:ext cx="2258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was I?”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181344" y="5532120"/>
            <a:ext cx="22219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Checkpoints. Lets a long job pause and resume later.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48640" y="768096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note = now.  Filing cabinet = forever.  Bookmark = where you paused.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36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 · LONG-TERM MEMORY (RAG)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AI “looks things up”: RAG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Retrieval-Augmented Generation. Fancy name, simple idea: find the relevant notes first, then answer using them.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7008" y="3108960"/>
            <a:ext cx="603504" cy="603504"/>
          </a:xfrm>
          <a:prstGeom prst="ellipse">
            <a:avLst/>
          </a:prstGeom>
          <a:solidFill>
            <a:srgbClr val="027A8A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310896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2519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your docs into chunks, save them in a vector store.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73452" y="3977640"/>
            <a:ext cx="109728" cy="0"/>
          </a:xfrm>
          <a:prstGeom prst="line">
            <a:avLst/>
          </a:prstGeom>
          <a:noFill/>
          <a:ln w="31750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87752" y="28346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3108960"/>
            <a:ext cx="603504" cy="603504"/>
          </a:xfrm>
          <a:prstGeom prst="ellipse">
            <a:avLst/>
          </a:prstGeom>
          <a:solidFill>
            <a:srgbClr val="027A8A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310896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87752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24912" y="42519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question into the same form; find the closest chunks.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12564" y="3977640"/>
            <a:ext cx="109728" cy="0"/>
          </a:xfrm>
          <a:prstGeom prst="line">
            <a:avLst/>
          </a:prstGeom>
          <a:noFill/>
          <a:ln w="31750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26864" y="28346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85232" y="3108960"/>
            <a:ext cx="603504" cy="603504"/>
          </a:xfrm>
          <a:prstGeom prst="ellipse">
            <a:avLst/>
          </a:prstGeom>
          <a:solidFill>
            <a:srgbClr val="027A8A"/>
          </a:solidFill>
          <a:ln/>
        </p:spPr>
      </p:sp>
      <p:sp>
        <p:nvSpPr>
          <p:cNvPr id="19" name="Text 17"/>
          <p:cNvSpPr/>
          <p:nvPr/>
        </p:nvSpPr>
        <p:spPr>
          <a:xfrm>
            <a:off x="5285232" y="310896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26864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64024" y="42519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those chunks into the prompt as context.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51676" y="3977640"/>
            <a:ext cx="109728" cy="0"/>
          </a:xfrm>
          <a:prstGeom prst="line">
            <a:avLst/>
          </a:prstGeom>
          <a:noFill/>
          <a:ln w="31750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65976" y="28346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24344" y="3108960"/>
            <a:ext cx="603504" cy="60350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7324344" y="310896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65976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03136" y="42519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replies using real, retrieved facts.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8046720" cy="1783080"/>
          </a:xfrm>
          <a:prstGeom prst="roundRect">
            <a:avLst>
              <a:gd name="adj" fmla="val 4615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" y="567385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5840" y="567385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31" name="Shape 29"/>
          <p:cNvSpPr/>
          <p:nvPr/>
        </p:nvSpPr>
        <p:spPr>
          <a:xfrm>
            <a:off x="1243584" y="567385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32" name="Text 30"/>
          <p:cNvSpPr/>
          <p:nvPr/>
        </p:nvSpPr>
        <p:spPr>
          <a:xfrm>
            <a:off x="1691640" y="553212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why-rag.txt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95274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6071616"/>
            <a:ext cx="749808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RAG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the model guesses from old training data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RAG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it answers from </a:t>
            </a:r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up-to-date documents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bonus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fewer made-up answers (“hallucinations”)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36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GATES, NOT 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it good?” vs “Is it safe?”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can pass one and fail the other. Keep them separate — they answer different questions.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291840"/>
            <a:ext cx="777240" cy="777240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35" y="350169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206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468172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correct / good enough?”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5212080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the quality of the answer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trigger a retry / redo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model grading itself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evaluator-optimizer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09160" y="292608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3291840"/>
            <a:ext cx="777240" cy="777240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055" y="350169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4206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5029200" y="468172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safe, allowed, well-formed?”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029200" y="5212080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rules + policy + safety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leaks (e.g. an SSN)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rule, not an opinion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BOTH input and output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740664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= a picky teacher grading the work.  Guardrails = a security guard at the door.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36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VALVE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 doubt, ask a human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anything risky or irreversible, the agent should stop and get a yes/no before acting. This is the human-in-the-loop gate.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046720" cy="2468880"/>
          </a:xfrm>
          <a:prstGeom prst="roundRect">
            <a:avLst>
              <a:gd name="adj" fmla="val 3333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8849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8849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8849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74320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approval.log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282696"/>
            <a:ext cx="749808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→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 to: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 $5,000 to vendor #88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 →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irreversible + high value → needs human OK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→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→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done. logged for audit.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577840"/>
            <a:ext cx="2624328" cy="1417320"/>
          </a:xfrm>
          <a:prstGeom prst="roundRect">
            <a:avLst>
              <a:gd name="adj" fmla="val 7742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13332" y="5806440"/>
            <a:ext cx="694944" cy="694944"/>
          </a:xfrm>
          <a:prstGeom prst="ellipse">
            <a:avLst/>
          </a:prstGeom>
          <a:solidFill>
            <a:srgbClr val="E8893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967" y="5994075"/>
            <a:ext cx="319674" cy="3196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" y="6510528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money or is irreversible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64408" y="5577840"/>
            <a:ext cx="2624328" cy="1417320"/>
          </a:xfrm>
          <a:prstGeom prst="roundRect">
            <a:avLst>
              <a:gd name="adj" fmla="val 7742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29100" y="5806440"/>
            <a:ext cx="694944" cy="694944"/>
          </a:xfrm>
          <a:prstGeom prst="ellipse">
            <a:avLst/>
          </a:prstGeom>
          <a:solidFill>
            <a:srgbClr val="E8893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735" y="5994075"/>
            <a:ext cx="319674" cy="31967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01568" y="6510528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sensitive / private data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980176" y="5577840"/>
            <a:ext cx="2624328" cy="1417320"/>
          </a:xfrm>
          <a:prstGeom prst="roundRect">
            <a:avLst>
              <a:gd name="adj" fmla="val 7742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944868" y="5806440"/>
            <a:ext cx="694944" cy="694944"/>
          </a:xfrm>
          <a:prstGeom prst="ellipse">
            <a:avLst/>
          </a:prstGeom>
          <a:solidFill>
            <a:srgbClr val="E8893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503" y="5994075"/>
            <a:ext cx="319674" cy="319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17336" y="6510528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or unclear request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48640" y="731520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easy to undo → let it run.  Hard to undo → ask first.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36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FIX WHAT YOU CAN'T SEE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everything: observability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loops of model calls. Without tracing, a wrong answer is a black box. So you log every step.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046720" cy="3017520"/>
          </a:xfrm>
          <a:prstGeom prst="roundRect">
            <a:avLst>
              <a:gd name="adj" fmla="val 2727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8849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8849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8849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74320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trace.log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282696"/>
            <a:ext cx="7498080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id=run_42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reason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120 tokens   $0.002   0.4s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tool  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maps_search           0.8s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reason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95 tokens   $0.001   0.3s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tool  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book_table            0.6s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steps   215 tokens   $0.003   2.1s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6190488"/>
            <a:ext cx="164592" cy="164592"/>
          </a:xfrm>
          <a:prstGeom prst="ellipse">
            <a:avLst/>
          </a:prstGeom>
          <a:solidFill>
            <a:srgbClr val="027A8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5989320"/>
            <a:ext cx="3639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— every step, in order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45152" y="6190488"/>
            <a:ext cx="164592" cy="164592"/>
          </a:xfrm>
          <a:prstGeom prst="ellipse">
            <a:avLst/>
          </a:prstGeom>
          <a:solidFill>
            <a:srgbClr val="027A8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5989320"/>
            <a:ext cx="3639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cost — per run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6894576"/>
            <a:ext cx="164592" cy="164592"/>
          </a:xfrm>
          <a:prstGeom prst="ellipse">
            <a:avLst/>
          </a:prstGeom>
          <a:solidFill>
            <a:srgbClr val="027A8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6693408"/>
            <a:ext cx="3639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— quality over time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45152" y="6894576"/>
            <a:ext cx="164592" cy="164592"/>
          </a:xfrm>
          <a:prstGeom prst="ellipse">
            <a:avLst/>
          </a:prstGeom>
          <a:solidFill>
            <a:srgbClr val="027A8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6693408"/>
            <a:ext cx="3639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— when a step fails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754380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log it, you can debug it, price it, and improve it. If you don't, you're guessing.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36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554480"/>
            <a:ext cx="4572000" cy="457200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6583680"/>
            <a:ext cx="4023360" cy="402336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331720"/>
            <a:ext cx="1280160" cy="128016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677363"/>
            <a:ext cx="588874" cy="5888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0352" y="416052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vs Agent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5943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distinction that ends the confusion — plus the 5 patterns built on it.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36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THAT ENDS THE CONFUSION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vs Agent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886200" cy="4572000"/>
          </a:xfrm>
          <a:prstGeom prst="roundRect">
            <a:avLst>
              <a:gd name="adj" fmla="val 2824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749808" cy="749808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128" y="2717048"/>
            <a:ext cx="344912" cy="344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2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fix the path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4434840"/>
            <a:ext cx="3337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decided ahead of time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fills in the blanks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cheap, easy to debug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“AI products” live here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709160" y="2194560"/>
            <a:ext cx="3886200" cy="4572000"/>
          </a:xfrm>
          <a:prstGeom prst="roundRect">
            <a:avLst>
              <a:gd name="adj" fmla="val 2824"/>
            </a:avLst>
          </a:prstGeom>
          <a:solidFill>
            <a:srgbClr val="0C3942"/>
          </a:solidFill>
          <a:ln w="12700">
            <a:solidFill>
              <a:srgbClr val="11515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2514600"/>
            <a:ext cx="749808" cy="749808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648" y="2717048"/>
            <a:ext cx="344912" cy="344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3383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029200" y="3886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picks the path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029200" y="4434840"/>
            <a:ext cx="3337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its own steps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+ self-corrects at runtime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but harder to control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when it can't be scripted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70408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question that settles every case:</a:t>
            </a:r>
            <a:endParaRPr lang="en-US" sz="16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6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decided the steps — you (ahead of time) or the model (at runtime)?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36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patterns you'll see everywhere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“agentic” product is one of these five — or a mix. We'll zoom into each next.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8046720" cy="886968"/>
          </a:xfrm>
          <a:prstGeom prst="roundRect">
            <a:avLst>
              <a:gd name="adj" fmla="val 1237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848356"/>
            <a:ext cx="585216" cy="585216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8" y="3006364"/>
            <a:ext cx="269199" cy="2691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807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572768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step 1 feeds step 2, in a fixed order.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60920" y="291236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60920" y="29123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60920" y="2912364"/>
            <a:ext cx="1005840" cy="45720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703320"/>
            <a:ext cx="8046720" cy="886968"/>
          </a:xfrm>
          <a:prstGeom prst="roundRect">
            <a:avLst>
              <a:gd name="adj" fmla="val 1237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" y="3854196"/>
            <a:ext cx="585216" cy="585216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48" y="4012204"/>
            <a:ext cx="269199" cy="26919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72768" y="38130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1572768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input, send it down one of several fixed paths.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360920" y="391820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60920" y="39182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360920" y="3918204"/>
            <a:ext cx="1005840" cy="45720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4709160"/>
            <a:ext cx="8046720" cy="886968"/>
          </a:xfrm>
          <a:prstGeom prst="roundRect">
            <a:avLst>
              <a:gd name="adj" fmla="val 1237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77240" y="4860036"/>
            <a:ext cx="585216" cy="585216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5018044"/>
            <a:ext cx="269199" cy="26919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72768" y="48188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572768" y="5166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several calls at once, then combine the results.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360920" y="492404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360920" y="492404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7360920" y="4924044"/>
            <a:ext cx="1005840" cy="45720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48640" y="5715000"/>
            <a:ext cx="8046720" cy="886968"/>
          </a:xfrm>
          <a:prstGeom prst="roundRect">
            <a:avLst>
              <a:gd name="adj" fmla="val 1237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77240" y="5865876"/>
            <a:ext cx="585216" cy="585216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48" y="6023884"/>
            <a:ext cx="269199" cy="26919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572768" y="58247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Orchestrator–workers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1572768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splits a task into subtasks chosen at runtime.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7360920" y="592988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7360920" y="592988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548640" y="6720840"/>
            <a:ext cx="8046720" cy="886968"/>
          </a:xfrm>
          <a:prstGeom prst="roundRect">
            <a:avLst>
              <a:gd name="adj" fmla="val 12371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77240" y="6871716"/>
            <a:ext cx="585216" cy="585216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248" y="7029724"/>
            <a:ext cx="269199" cy="269199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572768" y="6830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Evaluator–optimizer</a:t>
            </a:r>
            <a:endParaRPr lang="en-US" sz="1550" dirty="0"/>
          </a:p>
        </p:txBody>
      </p:sp>
      <p:sp>
        <p:nvSpPr>
          <p:cNvPr id="40" name="Text 33"/>
          <p:cNvSpPr/>
          <p:nvPr/>
        </p:nvSpPr>
        <p:spPr>
          <a:xfrm>
            <a:off x="1572768" y="7178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grade → retry until it's good enough.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7360920" y="693572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7360920" y="69357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548640" y="777240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three are workflows. Only the last two hand real decisions to the model.</a:t>
            </a:r>
            <a:endParaRPr lang="en-US" sz="1500" dirty="0"/>
          </a:p>
        </p:txBody>
      </p:sp>
      <p:sp>
        <p:nvSpPr>
          <p:cNvPr id="44" name="Text 37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36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·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chaining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assembly line. Each step's output becomes the next step's input. You set the order; the model does each step.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8803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8803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28803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28803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28803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3314700"/>
            <a:ext cx="822960" cy="0"/>
          </a:xfrm>
          <a:prstGeom prst="line">
            <a:avLst/>
          </a:prstGeom>
          <a:noFill/>
          <a:ln w="38100">
            <a:solidFill>
              <a:srgbClr val="045E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3314700"/>
            <a:ext cx="822960" cy="0"/>
          </a:xfrm>
          <a:prstGeom prst="line">
            <a:avLst/>
          </a:prstGeom>
          <a:noFill/>
          <a:ln w="38100">
            <a:solidFill>
              <a:srgbClr val="045E6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order · you decide the steps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8046720" cy="2103120"/>
          </a:xfrm>
          <a:prstGeom prst="roundRect">
            <a:avLst>
              <a:gd name="adj" fmla="val 3913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535381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535381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43584" y="535381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18" name="Text 16"/>
          <p:cNvSpPr/>
          <p:nvPr/>
        </p:nvSpPr>
        <p:spPr>
          <a:xfrm>
            <a:off x="1691640" y="521208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chain.py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63270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751576"/>
            <a:ext cx="74980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 =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llm(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a tagline"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better =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llm(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it punchier: " + draft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 =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llm(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"translate to Hindi: " + better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7479792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the task splits into clear, ordered steps. Simple + reliable.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36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·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sort the request, then send it down the right pre-built path — like a receptionist directing visitors.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383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283464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billing flow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0" y="361188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36118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tech-support flow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0" y="438912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F1F8F9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4389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refund flow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68880" y="3794760"/>
            <a:ext cx="1188720" cy="-640080"/>
          </a:xfrm>
          <a:prstGeom prst="line">
            <a:avLst/>
          </a:prstGeom>
          <a:noFill/>
          <a:ln w="28575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68880" y="3794760"/>
            <a:ext cx="1188720" cy="137160"/>
          </a:xfrm>
          <a:prstGeom prst="line">
            <a:avLst/>
          </a:prstGeom>
          <a:noFill/>
          <a:ln w="28575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68880" y="3794760"/>
            <a:ext cx="1188720" cy="914400"/>
          </a:xfrm>
          <a:prstGeom prst="line">
            <a:avLst/>
          </a:prstGeom>
          <a:noFill/>
          <a:ln w="28575">
            <a:solidFill>
              <a:srgbClr val="027A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57600" y="2834640"/>
            <a:ext cx="4389120" cy="64008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3611880"/>
            <a:ext cx="4389120" cy="64008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4389120"/>
            <a:ext cx="4389120" cy="640080"/>
          </a:xfrm>
          <a:prstGeom prst="rect">
            <a:avLst/>
          </a:prstGeom>
          <a:ln w="12700">
            <a:solidFill>
              <a:srgbClr val="D7E6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349240"/>
            <a:ext cx="8046720" cy="1965960"/>
          </a:xfrm>
          <a:prstGeom prst="roundRect">
            <a:avLst>
              <a:gd name="adj" fmla="val 4186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549097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549097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43584" y="549097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534924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76986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888736"/>
            <a:ext cx="749808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classify(message)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billing? tech? refund?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=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HANDLERS[kind]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route(message)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7479792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different request types need different, specialized handling.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36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·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Parallelization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several calls at the same time, then merge the answers. Faster, and great for cross-checking.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3832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83464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834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3547872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354787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83280" y="4261104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426110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33832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3383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0" y="3794760"/>
            <a:ext cx="1097280" cy="-676656"/>
          </a:xfrm>
          <a:prstGeom prst="line">
            <a:avLst/>
          </a:prstGeom>
          <a:noFill/>
          <a:ln w="28575">
            <a:solidFill>
              <a:srgbClr val="045E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86000" y="3794760"/>
            <a:ext cx="1097280" cy="36576"/>
          </a:xfrm>
          <a:prstGeom prst="line">
            <a:avLst/>
          </a:prstGeom>
          <a:noFill/>
          <a:ln w="28575">
            <a:solidFill>
              <a:srgbClr val="045E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0" y="3794760"/>
            <a:ext cx="1097280" cy="749808"/>
          </a:xfrm>
          <a:prstGeom prst="line">
            <a:avLst/>
          </a:prstGeom>
          <a:noFill/>
          <a:ln w="28575">
            <a:solidFill>
              <a:srgbClr val="045E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77840" y="3118104"/>
            <a:ext cx="1097280" cy="676656"/>
          </a:xfrm>
          <a:prstGeom prst="line">
            <a:avLst/>
          </a:prstGeom>
          <a:noFill/>
          <a:ln w="28575">
            <a:solidFill>
              <a:srgbClr val="045E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77840" y="3831336"/>
            <a:ext cx="1097280" cy="-36576"/>
          </a:xfrm>
          <a:prstGeom prst="line">
            <a:avLst/>
          </a:prstGeom>
          <a:noFill/>
          <a:ln w="28575">
            <a:solidFill>
              <a:srgbClr val="045E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77840" y="4544568"/>
            <a:ext cx="1097280" cy="-749808"/>
          </a:xfrm>
          <a:prstGeom prst="line">
            <a:avLst/>
          </a:prstGeom>
          <a:noFill/>
          <a:ln w="28575">
            <a:solidFill>
              <a:srgbClr val="045E6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5349240"/>
            <a:ext cx="8046720" cy="1965960"/>
          </a:xfrm>
          <a:prstGeom prst="roundRect">
            <a:avLst>
              <a:gd name="adj" fmla="val 4186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8096" y="549097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549097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4" name="Shape 22"/>
          <p:cNvSpPr/>
          <p:nvPr/>
        </p:nvSpPr>
        <p:spPr>
          <a:xfrm>
            <a:off x="1243584" y="549097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25" name="Text 23"/>
          <p:cNvSpPr/>
          <p:nvPr/>
        </p:nvSpPr>
        <p:spPr>
          <a:xfrm>
            <a:off x="1691640" y="534924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parallel.py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76986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888736"/>
            <a:ext cx="749808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gather(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check_grammar(x), check_facts(x), check_tone(x)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all at once, then combine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7479792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independent subtasks can run together, or you want multiple opinions.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36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 · AGENT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Orchestrator–workers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agent breaks a big goal into subtasks AT RUNTIME, hands each to a worker, then assembles the result.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3200400" y="27889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2788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4160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41605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4160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41605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4160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566160"/>
            <a:ext cx="-2743200" cy="594360"/>
          </a:xfrm>
          <a:prstGeom prst="line">
            <a:avLst/>
          </a:prstGeom>
          <a:noFill/>
          <a:ln w="28575">
            <a:solidFill>
              <a:srgbClr val="0A7A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0" y="3566160"/>
            <a:ext cx="0" cy="594360"/>
          </a:xfrm>
          <a:prstGeom prst="line">
            <a:avLst/>
          </a:prstGeom>
          <a:noFill/>
          <a:ln w="28575">
            <a:solidFill>
              <a:srgbClr val="0A7A5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3566160"/>
            <a:ext cx="2743200" cy="594360"/>
          </a:xfrm>
          <a:prstGeom prst="line">
            <a:avLst/>
          </a:prstGeom>
          <a:noFill/>
          <a:ln w="28575">
            <a:solidFill>
              <a:srgbClr val="0A7A5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5212080"/>
            <a:ext cx="8046720" cy="2103120"/>
          </a:xfrm>
          <a:prstGeom prst="roundRect">
            <a:avLst>
              <a:gd name="adj" fmla="val 3913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535381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535381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43584" y="535381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521208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orchestrator.log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63270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751576"/>
            <a:ext cx="74980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a landing page"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 →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splits it (decided now, not pre-written):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worker_1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copy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worker_2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layout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worker_3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images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 →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assembles + reviews → done ✓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7479792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you can't know the subtasks in advance — the model must decide them.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36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5 · AGENT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Evaluator–optimizer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makes an attempt; another grades it and says what's wrong. Loop until it passes — like a writer + editor.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28803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8803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28803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28803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3314700"/>
            <a:ext cx="1645920" cy="0"/>
          </a:xfrm>
          <a:prstGeom prst="line">
            <a:avLst/>
          </a:prstGeom>
          <a:noFill/>
          <a:ln w="38100">
            <a:solidFill>
              <a:srgbClr val="045E6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4400" y="38587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 with feedback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3794760"/>
            <a:ext cx="-4023360" cy="0"/>
          </a:xfrm>
          <a:prstGeom prst="line">
            <a:avLst/>
          </a:prstGeom>
          <a:noFill/>
          <a:ln w="28575">
            <a:solidFill>
              <a:srgbClr val="E8893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5257800"/>
            <a:ext cx="8046720" cy="2057400"/>
          </a:xfrm>
          <a:prstGeom prst="roundRect">
            <a:avLst>
              <a:gd name="adj" fmla="val 4000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53995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53995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5" name="Shape 13"/>
          <p:cNvSpPr/>
          <p:nvPr/>
        </p:nvSpPr>
        <p:spPr>
          <a:xfrm>
            <a:off x="1243584" y="53995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525780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loop.py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67842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797296"/>
            <a:ext cx="749808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draft  =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generate(task, feedback)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score, feedback =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evaluate(draft)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&gt;=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good enough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7479792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quality matters and you can describe what “good” looks like.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36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MULTI-AGENT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the boss? Orchestrator vs Worker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agent isn't enough, you split the roles: a coordinator and the doers it manages.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886200" cy="40233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383280"/>
            <a:ext cx="777240" cy="777240"/>
          </a:xfrm>
          <a:prstGeom prst="ellipse">
            <a:avLst/>
          </a:prstGeom>
          <a:solidFill>
            <a:srgbClr val="082A3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35" y="359313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2976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coordinator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5257800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goal, makes a plan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it into subtasks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to a worker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+ assembles the result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09160" y="3017520"/>
            <a:ext cx="3886200" cy="40233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3383280"/>
            <a:ext cx="777240" cy="777240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055" y="359313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42976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02920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doer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029200" y="5257800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one assigned subtask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 to finish it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result up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Revises if asked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736092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team lead and their team: one plans and reviews, the others execute.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36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554480"/>
            <a:ext cx="4572000" cy="457200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6583680"/>
            <a:ext cx="4023360" cy="402336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331720"/>
            <a:ext cx="1280160" cy="128016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677363"/>
            <a:ext cx="588874" cy="5888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0352" y="416052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It Well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5943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choose, what it costs, the traps to avoid — and your first checklist.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36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first. Agent only if you must.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simplest thing that works. Add freedom only when the task truly needs it.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280160" y="2743200"/>
            <a:ext cx="6583680" cy="1371600"/>
          </a:xfrm>
          <a:prstGeom prst="roundRect">
            <a:avLst>
              <a:gd name="adj" fmla="val 6667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29443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write the steps in advance?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345643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use a WORKFLOW. Done.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412394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if no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4389120"/>
            <a:ext cx="6583680" cy="1371600"/>
          </a:xfrm>
          <a:prstGeom prst="roundRect">
            <a:avLst>
              <a:gd name="adj" fmla="val 6667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459028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steps the same every time?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510235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chaining or routing.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80160" y="576986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if 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80160" y="6035040"/>
            <a:ext cx="6583680" cy="1371600"/>
          </a:xfrm>
          <a:prstGeom prst="roundRect">
            <a:avLst>
              <a:gd name="adj" fmla="val 6667"/>
            </a:avLst>
          </a:prstGeom>
          <a:solidFill>
            <a:srgbClr val="082A30"/>
          </a:solidFill>
          <a:ln w="12700">
            <a:solidFill>
              <a:srgbClr val="082A30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0" y="623620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steps depend on what's found at runtime?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674827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NOW reach for an AGENT.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763524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powerful but pricier and harder to predict. Don't reach for one out of habit.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36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loop costs tokens — and money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the chunks of text the model reads and writes. You pay per token. Loops repeat → cost adds up fast.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046720" cy="2331720"/>
          </a:xfrm>
          <a:prstGeom prst="roundRect">
            <a:avLst>
              <a:gd name="adj" fmla="val 3529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88493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88493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88493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74320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cost.txt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282696"/>
            <a:ext cx="749808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"agentic"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≈ 1 token       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"un-be-liev-able"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≈ 4 tokens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loop  =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few hundred tokens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loops=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thousands of tokens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watch the bill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349240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5458968"/>
            <a:ext cx="493776" cy="493776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560" y="5592288"/>
            <a:ext cx="227137" cy="22713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5349240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loops  </a:t>
            </a:r>
            <a:pPr indent="0" marL="0"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set a max number of turns so it can't run forever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6181344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6291072"/>
            <a:ext cx="493776" cy="493776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60" y="6424392"/>
            <a:ext cx="227137" cy="22713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63040" y="6181344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the context  </a:t>
            </a:r>
            <a:pPr indent="0" marL="0"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don't resend the whole history every single call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48640" y="7013448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F1F8F9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7123176"/>
            <a:ext cx="493776" cy="493776"/>
          </a:xfrm>
          <a:prstGeom prst="ellipse">
            <a:avLst/>
          </a:prstGeom>
          <a:solidFill>
            <a:srgbClr val="027A8A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60" y="7256496"/>
            <a:ext cx="227137" cy="22713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63040" y="7013448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model  </a:t>
            </a:r>
            <a:pPr indent="0" marL="0">
              <a:buNone/>
            </a:pPr>
            <a:r>
              <a:rPr lang="en-US" sz="13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 a small model for easy steps, big for hard ones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36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45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OTHERS' BRUISES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traps beginners fall into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046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57984"/>
            <a:ext cx="603504" cy="603504"/>
          </a:xfrm>
          <a:prstGeom prst="ellipse">
            <a:avLst/>
          </a:prstGeom>
          <a:solidFill>
            <a:srgbClr val="E889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3042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 agent when a workflow would 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50545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cost, more bugs, no benefit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8046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355848"/>
            <a:ext cx="603504" cy="603504"/>
          </a:xfrm>
          <a:prstGeom prst="ellipse">
            <a:avLst/>
          </a:prstGeom>
          <a:solidFill>
            <a:srgbClr val="E889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5021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300984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 limit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45920" y="37033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spins forever, burning tokens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315968"/>
            <a:ext cx="8046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553712"/>
            <a:ext cx="603504" cy="603504"/>
          </a:xfrm>
          <a:prstGeom prst="ellipse">
            <a:avLst/>
          </a:prstGeom>
          <a:solidFill>
            <a:srgbClr val="E889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7000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98848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the output blindly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901184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evaluator, no guardrails = surprises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513832"/>
            <a:ext cx="8046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751576"/>
            <a:ext cx="603504" cy="603504"/>
          </a:xfrm>
          <a:prstGeom prst="ellipse">
            <a:avLst/>
          </a:prstGeom>
          <a:solidFill>
            <a:srgbClr val="E889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89788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69671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it too many tools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645920" y="609904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gets confused and picks the wrong one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6711696"/>
            <a:ext cx="8046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6949440"/>
            <a:ext cx="603504" cy="603504"/>
          </a:xfrm>
          <a:prstGeom prst="ellipse">
            <a:avLst/>
          </a:prstGeom>
          <a:solidFill>
            <a:srgbClr val="E889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709574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6894576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tracing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645920" y="7296912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when it breaks, you can't see why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7955280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B45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comes down to the same fix: start simple, watch it, add limits.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36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first agent: a checklist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small steps. Do them in order and you'll have a working, safe little agent.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8046720" cy="4709160"/>
          </a:xfrm>
          <a:prstGeom prst="roundRect">
            <a:avLst>
              <a:gd name="adj" fmla="val 1748"/>
            </a:avLst>
          </a:prstGeom>
          <a:solidFill>
            <a:srgbClr val="0A1E22"/>
          </a:solidFill>
          <a:ln w="12700">
            <a:solidFill>
              <a:srgbClr val="16434C"/>
            </a:solidFill>
            <a:prstDash val="solid"/>
          </a:ln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747772"/>
            <a:ext cx="137160" cy="137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747772"/>
            <a:ext cx="137160" cy="13716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747772"/>
            <a:ext cx="137160" cy="137160"/>
          </a:xfrm>
          <a:prstGeom prst="ellipse">
            <a:avLst/>
          </a:prstGeom>
          <a:solidFill>
            <a:srgbClr val="5EEAA8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60604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first-agent.md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8046720" cy="0"/>
          </a:xfrm>
          <a:prstGeom prst="line">
            <a:avLst/>
          </a:prstGeom>
          <a:noFill/>
          <a:ln w="12700">
            <a:solidFill>
              <a:srgbClr val="1643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145536"/>
            <a:ext cx="7498080" cy="4050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ONE clear goal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“summarize my unread emails”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 it 1–3 tools (not 20)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list_emails(), read_email()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the reason–act–observe loop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a max-turns cap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guardrail + a human OK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anything risky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every step (tracing)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EE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Run, read the trace, improve — repeat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36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CHEAT-SHEET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term, in one 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4B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this one. It's the whole deck, compressed.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78892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308152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brain that predicts the next word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6974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278892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28032" y="308152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 of text; you pay per token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65760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" y="395020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the model can 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56616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65760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28032" y="395020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that loops with tools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52628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3232" y="481888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observe, repeat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443484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452628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28032" y="481888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short-term memory of one run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39496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3232" y="568756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real docs, then answer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530352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539496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28032" y="568756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rule on in/out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17220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626364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Evaluator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13232" y="655624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answer is good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617220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626364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828032" y="655624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you fixed in advance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70408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713232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13232" y="742492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that splits + assigns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70408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713232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828032" y="7424928"/>
            <a:ext cx="3602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tokens, cost, evals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6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36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8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6400800"/>
            <a:ext cx="4572000" cy="457200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0C39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1234440" cy="123444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5400000">
              <a:srgbClr val="0A2A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939" y="1247699"/>
            <a:ext cx="567842" cy="567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MADE 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7432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 explain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AI.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agents are more capable but less predictable. So reach for the simplest thing that works — a workflow first, an agent only when the task genuinely can't be pre-scripted.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6355080"/>
            <a:ext cx="8046720" cy="0"/>
          </a:xfrm>
          <a:prstGeom prst="line">
            <a:avLst/>
          </a:prstGeom>
          <a:noFill/>
          <a:ln w="19050">
            <a:solidFill>
              <a:srgbClr val="1151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62940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this useful?
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developer learning AI engineering in public. Follow + repost so the next person can find it — and tell me what to break down next.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18120" y="86868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36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Agentic AI Actually Works</dc:title>
  <dc:subject>PptxGenJS Presentation</dc:subject>
  <dc:creator>Nikhil K</dc:creator>
  <cp:lastModifiedBy>Nikhil K</cp:lastModifiedBy>
  <cp:revision>1</cp:revision>
  <dcterms:created xsi:type="dcterms:W3CDTF">2026-06-18T21:59:50Z</dcterms:created>
  <dcterms:modified xsi:type="dcterms:W3CDTF">2026-06-18T21:59:50Z</dcterms:modified>
</cp:coreProperties>
</file>